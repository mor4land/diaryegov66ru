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36576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38BDF8"/>
                </a:solidFill>
                <a:latin typeface="Segoe UI"/>
              </a:rPr>
              <a:t>🚀 ВСЕРОССИЙСКИЙ КОНКУРС IT-ПРОЕКТОВ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Segoe UI"/>
              </a:rPr>
              <a:t>MirageDiary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38BDF8"/>
                </a:solidFill>
                <a:latin typeface="Segoe UI"/>
              </a:rPr>
              <a:t>Интеллектуальная кроссплатформенная экосистема школьного дневника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Мгновенный доступ к расписанию, оценкам и домашним заданиям через Telegram, национальный мессенджер MAX и React MiniApp. Прямая интеграция с ФГИС «Моя Школа» через ЕСИА (Госуслуги) с максимальной защитой персональных данных по 152-ФЗ.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.NET 10 Kestrel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ЕСИА PKCE S256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Шифрование enc:v2: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Telegram &amp; MAX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152-ФЗ РФ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4480560"/>
            <a:ext cx="16916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8FAFC"/>
                </a:solidFill>
                <a:latin typeface="Segoe UI"/>
              </a:rPr>
              <a:t>Отклик &lt;200мс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6766560" cy="1005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658368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&lt; 200 мс  </a:t>
            </a:r>
            <a:r>
              <a:rPr sz="1000">
                <a:solidFill>
                  <a:srgbClr val="94A3B8"/>
                </a:solidFill>
              </a:rPr>
              <a:t>Скорость отклика       </a:t>
            </a:r>
            <a:r>
              <a:rPr b="1" sz="1400">
                <a:solidFill>
                  <a:srgbClr val="10B981"/>
                </a:solidFill>
              </a:rPr>
              <a:t>100%  </a:t>
            </a:r>
            <a:r>
              <a:rPr sz="1000">
                <a:solidFill>
                  <a:srgbClr val="94A3B8"/>
                </a:solidFill>
              </a:rPr>
              <a:t>Соответствие 152-ФЗ       </a:t>
            </a:r>
            <a:r>
              <a:rPr b="1" sz="1400">
                <a:solidFill>
                  <a:srgbClr val="10B981"/>
                </a:solidFill>
              </a:rPr>
              <a:t>0 паролей  </a:t>
            </a:r>
            <a:r>
              <a:rPr sz="1000">
                <a:solidFill>
                  <a:srgbClr val="94A3B8"/>
                </a:solidFill>
              </a:rPr>
              <a:t>Zero-Knowledge       </a:t>
            </a:r>
            <a:r>
              <a:rPr b="1" sz="1400">
                <a:solidFill>
                  <a:srgbClr val="10B981"/>
                </a:solidFill>
              </a:rPr>
              <a:t>x20+  </a:t>
            </a:r>
            <a:r>
              <a:rPr sz="1000">
                <a:solidFill>
                  <a:srgbClr val="94A3B8"/>
                </a:solidFill>
              </a:rPr>
              <a:t>Экономия трафика API       </a:t>
            </a:r>
          </a:p>
        </p:txBody>
      </p:sp>
      <p:pic>
        <p:nvPicPr>
          <p:cNvPr id="13" name="Picture 12" descr="banner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29260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72400" y="4572000"/>
            <a:ext cx="3657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663440"/>
            <a:ext cx="329184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🌐 Продакшен-система запущена: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8FAFC"/>
                </a:solidFill>
              </a:rPr>
              <a:t>https://miragediary.space
</a:t>
            </a:r>
            <a:r>
              <a:rPr sz="950">
                <a:solidFill>
                  <a:srgbClr val="94A3B8"/>
                </a:solidFill>
              </a:rPr>
              <a:t>Сервер: .NET 10 Kestrel (Linux-x64, Nginx, SSL)
Клиенты: Telegram Bot (@MirageDiary_bot) &amp; 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02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Проблема и актуальность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Ключевые барьеры использования существующих государственных школьных систем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F59E0B"/>
                </a:solidFill>
                <a:latin typeface="Segoe UI"/>
              </a:rPr>
              <a:t>🐢 Медленная загрузка порталов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Время открытия веб-страницы регионального дневника достигает 8–15 секунд. В школьных коридорах при слабом мобильном интернете портал часто вообще не открывается перед уроком.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F59E0B"/>
                </a:solidFill>
                <a:latin typeface="Segoe UI"/>
              </a:rPr>
              <a:t>💥 Пиковые перегрузки серверов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В 07:45–08:30 (ученики смотрят расписание и кабинеты) и в 17:00–19:00 (проверка домашнего задания) региональные шлюзы падают или отдают ошибки 502/504.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F59E0B"/>
                </a:solidFill>
                <a:latin typeface="Segoe UI"/>
              </a:rPr>
              <a:t>🧩 Сложная навигация и стресс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Многократный ввод логинов, громоздкие неадаптивные таблицы, отсутствие встроенного подсчета среднего балла для четверти и невозможность быстро узнать время до конца урока.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F59E0B"/>
                </a:solidFill>
                <a:latin typeface="Segoe UI"/>
              </a:rPr>
              <a:t>📱 Изолированность от мессенджеров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Школьники и родители проводят до 90% экранного времени в Telegram и MAX, но вынуждены переключаться в сторонний браузер с постоянным разлогиниванием сессий.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03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Решение: Экосистема MirageDiary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Легковесный, отказоустойчивый шлюз к образовательным данным прямо в мессенджерах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38BDF8"/>
                </a:solidFill>
                <a:latin typeface="Segoe UI"/>
              </a:rPr>
              <a:t>⚡ Мгновенный отклик (&lt;200 мс)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Высокопроизводительное кэширование и компактная отдача. Любой экран (расписание, оценки, ДЗ) открывается за доли секунды без расхода трафика.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74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38BDF8"/>
                </a:solidFill>
                <a:latin typeface="Segoe UI"/>
              </a:rPr>
              <a:t>🤖 Мультитранспортная среда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Единое ядро обслуживает пользователей Telegram, национального мессенджера MAX и веб-клиента React MiniApp без дублирования бизнес-логики.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38BDF8"/>
                </a:solidFill>
                <a:latin typeface="Segoe UI"/>
              </a:rPr>
              <a:t>🔔 Умные контекстные сервисы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Таймер звонков со сменами, калькулятор оценок (/calc), автоматический контроль рюкзака и инвентаря на завтра в 20:30.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60520"/>
            <a:ext cx="457200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400">
                <a:solidFill>
                  <a:srgbClr val="38BDF8"/>
                </a:solidFill>
                <a:latin typeface="Segoe UI"/>
              </a:rPr>
              <a:t>🔗 Бесшовная связка аккаунтов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4A3B8"/>
                </a:solidFill>
                <a:latin typeface="Segoe UI"/>
              </a:rPr>
              <a:t>Быстрый переход Telegram ⟷ MAX по 6-значному коду с сохранением сессии Госуслуг и настроек будильника без повторного логина.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04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Архитектура и стек технологий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Высокопроизводительный модульный бэкенд на .NET 10 и реактивные клиенты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6366F1"/>
                </a:solidFill>
                <a:latin typeface="Segoe UI"/>
              </a:rPr>
              <a:t>⚙️ Серверное ядро (.NET 10 / C# 14)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ASP.NET Core 10 Kestrel (сборка Linux-x64, режим Release)
• Entity Framework Core 10, фоновые Hosted Services
• Защита исходного кода через Obfuscar 2.2
• Готовые production манифесты Docker &amp; 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6366F1"/>
                </a:solidFill>
                <a:latin typeface="Segoe UI"/>
              </a:rPr>
              <a:t>🛡️ Безопасность и интеграции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Шлюз ЕСИА: протокол OAuth 2.0 PKCE с хэшированием S256
• Конвертное шифрование токенов enc:v2: (AES-256-GCM + DEK)
• Встроенный RussianTrustedCertificateValidator (Минцифры)
• Очистка памяти секретов CryptographicOperations.ZeroMemory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6366F1"/>
                </a:solidFill>
                <a:latin typeface="Segoe UI"/>
              </a:rPr>
              <a:t>💾 База данных и хранилище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Встроенная база SQLite 3 в высоконадежном режиме WAL
• Права доступа к файлу базы 0600 (только процессу приложения)
• Сервис DatabaseBackupService: горячие бэкапы каждые 6 часов
• Пул SharedClassroomCache для кэширования расписания классов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6366F1"/>
                </a:solidFill>
                <a:latin typeface="Segoe UI"/>
              </a:rPr>
              <a:t>📱 Клиентские интерфейсы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Telegram.Bot 22.9.2 с лонг-поллингом и вебхук-адаптером
• MAX Messenger: кастомный асинхронный REST/Webhook клиент
• MiniApp: React 19, TypeScript, Vite, темная дизайн-система
• Динамические баннеры высокого разрешения (1200x580)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05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Информационная безопасность и 152-ФЗ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Эшелонированная криптографическая защита и строгое соблюдение законодательства РФ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🔐 Конвертное шифрование enc:v2: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Двухуровневая схема: Master KEK (Key Encryption Key) + динамический DEK (Data Encryption Key) на каждую запись.
• Алгоритм AES-256-GCM с 96-битным IV и 128-битным тегом целостности.
• Зануление открытых ключей в RAM через ZeroMemory сразу после вычисления.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10B981"/>
                </a:solidFill>
                <a:latin typeface="Segoe UI"/>
              </a:rPr>
              <a:t>🔑 Zero-Knowledge для паролей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Пароли пользователей от Госуслуг никогда не вводятся и не сохраняются на сервере.
• Авторизация выполняется через мобильный контур ЕСИА по стандарту OAuth 2.0 PKCE S256.
• Бэкенд получает только ограниченный JWT-токен сессии дневника.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F59E0B"/>
                </a:solidFill>
                <a:latin typeface="Segoe UI"/>
              </a:rPr>
              <a:t>📜 Согласие и аудит (152-ФЗ)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Обязательный онбординг: блокировка функций до подтверждения согласия родителей (ст. 9 ч. 6 152-ФЗ).
• Аудит волеизъявления: фиксация таймштампа согласия в UTC в неизменяемом журнале.
• Право на забвение: команда /delete_account безвозвратно стирает все токены и кэши.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A855F7"/>
                </a:solidFill>
                <a:latin typeface="Segoe UI"/>
              </a:rPr>
              <a:t>🇷🇺 Суверенитет и локализация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100% данных и вычислительных узлов размещены на территории Российской Федерации (ст. 18 ч. 5).
• Встроенные корневые сертификаты Минцифры РФ (Russian Trusted CAs).
• Отсутствие зависимостей от зарубежных закрытых облачных API и CDN.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06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Ключевая функциональность и UX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Интуитивный интерфейс, разработанный под реальные сценарии школьной жизни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nner_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0175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337560"/>
            <a:ext cx="301752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50">
                <a:solidFill>
                  <a:srgbClr val="38BDF8"/>
                </a:solidFill>
                <a:latin typeface="Segoe UI"/>
              </a:rPr>
              <a:t>📅 Расписание и «До звонка»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• Мгновенный таймер (/now): сколько минут осталось до конца текущего урока или перемены.
• Поддержка 1 и 2 смен для МАОУ СОШ № 113.
• Индикация кабинетов, ФИО учителей и статуса замен уроков.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nner_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017520" cy="1417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3337560"/>
            <a:ext cx="301752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50">
                <a:solidFill>
                  <a:srgbClr val="38BDF8"/>
                </a:solidFill>
                <a:latin typeface="Segoe UI"/>
              </a:rPr>
              <a:t>📊 Оценки и калькулятор (/calc)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• Наглядный средний балл по всем предметам с подсветкой критических четвертных оценок.
• Калькулятор целей: алгоритм рассчитывает, сколько именно «5» или «4» нужно получить до конца четверти.
• Фильтрация оценок по датам и типам работ.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nner_ala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828800"/>
            <a:ext cx="30175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3337560"/>
            <a:ext cx="301752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250">
                <a:solidFill>
                  <a:srgbClr val="38BDF8"/>
                </a:solidFill>
                <a:latin typeface="Segoe UI"/>
              </a:rPr>
              <a:t>⏰ Умный будильник (SmartAlarm)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• 07:30: Утренний дайджест с расписанием и кабинетом первого урока.
• 17:00: Напоминание о невыполненных ДЗ.
• 20:30: Анализ предметов на завтра и напоминание собрать рюкзак (форма, ИЗО, циркуль).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07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Отказоустойчивость и производительность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Архитектурные оптимизации для стабильной работы в часы пиковых нагрузок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50">
                <a:solidFill>
                  <a:srgbClr val="10B981"/>
                </a:solidFill>
                <a:latin typeface="Segoe UI"/>
              </a:rPr>
              <a:t>🚀 SharedClassroomCache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Вместо сотен параллельных запросов от учеников одного класса (например, 8Б) при открытии дневника перед уроком, сервер опрашивает ФГИС «Моя Школа» ровно один раз. Ответ кэшируется в оперативной памяти с TTL.
Результат: Снижение нагрузки на государственный шлюз более чем в 20 раз и ответ пользователям за 15–30 мс.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50">
                <a:solidFill>
                  <a:srgbClr val="10B981"/>
                </a:solidFill>
                <a:latin typeface="Segoe UI"/>
              </a:rPr>
              <a:t>🔧 Автодетекция регламентных работ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Государственные информационные системы регулярно проводят ночные и утренние обновления. Интеллектуальный шлюз MirageDiary анализирует статус-коды и HTML-ответы.
Результат: Бот не падает с ошибками, а выводит статусное сообщение «🔧 Идут техработы» и показывает закэшированное расписание.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50">
                <a:solidFill>
                  <a:srgbClr val="10B981"/>
                </a:solidFill>
                <a:latin typeface="Segoe UI"/>
              </a:rPr>
              <a:t>🔄 Фоновое обновление сессий (TokenRefresh)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Специализированный Hosted Service производит упреждающее обновление access-токенов в фоновом режиме до истечения их срока действия.
Результат: Пользователю не приходится ждать 2–3 секунды на рефреш токена при вводе команды — бот отвечает мгновенно.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50">
                <a:solidFill>
                  <a:srgbClr val="10B981"/>
                </a:solidFill>
                <a:latin typeface="Segoe UI"/>
              </a:rPr>
              <a:t>🛡️ Устойчивый режим Kestrel &amp; WAL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Пул потоков ASP.NET Core 10 оптимизирован под асинхронную обработку тысяч вебхук-событий в секунду без блокировок. База SQLite работает в режиме WAL (Write-Ahead Logging).
Результат: Параллельные операции чтения расписания не блокируют фоновые записи логов и настроек пользователей.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08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Импортозамещение и суверенная среда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Полная готовность к работе в национальном цифровом контуре Российской Федерации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🇷🇺 Интеграция с мессенджером MAX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Реализован полнофункциональный бот для национальной платформы MAX (VK/MAX Messenger).
• Поддержка нативных клавиатур, callback-событий и безопасной доставки уведомлений.
• Гарантия непрерывности работы сервиса при любых сценариях деградации зарубежных каналов.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🔗 Сквозное связывание Telegram ⟷ MAX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Сервис AccountLinkingService генерирует одноразовый 6-значный криптографический PIN.
• Пользователь вводит PIN во втором мессенджере — сессия Госуслуг и настройки объединяются.
• Единый профиль без необходимости проходить авторизацию на Госуслугах дважды.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🔒 Доверенные корневые сертификаты РФ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Интеграция сертификатов Минцифры России на уровне базового Docker-образа и Kestrel.
• Кастомный валидатор RussianTrustedCertificateValidator для верификации цепочек доверия TLS.
• Корректное защищенное соединение с порталами ЕСИА и ФГИС «Моя Школа».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572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🏢 Локальная инфраструктура и безопасность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F8FAFC"/>
                </a:solidFill>
                <a:latin typeface="Segoe UI"/>
              </a:rPr>
              <a:t>• Развертывание на отечественных серверных мощностях под управлением Linux.
• Полный контроль над кодом: защита интеллектуальной собственности обфускацией Obfuscar.
• Отсутствие закрытых проприетарных зарубежных SaaS-решений в цепочке обработки данных.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09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Текущие результаты и статус MVP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Проект доведен до боевого состояния и успешно функционирует на продакшен-сервере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500">
                <a:solidFill>
                  <a:srgbClr val="10B981"/>
                </a:solidFill>
              </a:rPr>
              <a:t>🏆 Достигнутые результаты (Ready to Pitch)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</a:rPr>
              <a:t>✅ Боевой продакшен на https://miragediary.space
    Развернут на Linux VPS с настроенным SSL, Nginx и Kestrel.
✅ Два активных бота (Telegram &amp; MAX)
    Поддерживают полный цикл: авторизация, расписание, оценки, ДЗ.
✅ 100% готовность к требованиям конкурса (п. 9.7)
    Собран автономный Docker-образ, подготовлен requirements.txt, синхронизированы порты healthcheck (5000).
✅ Проведены нагрузочные тесты (test-all.ps1)
    API выдерживает конкурентные запросы без утечек памяти и блокировок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500">
                <a:solidFill>
                  <a:srgbClr val="38BDF8"/>
                </a:solidFill>
              </a:rPr>
              <a:t>📦 Открытые репозитории и артефакты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</a:rPr>
              <a:t>📂 Бэкенд (.NET 10 Web API + Bots):
    github.com/Miragestudio-repo/MirageDiary_Backend
    (Чистая архитектура, EF Core, обфускация, тесты)
📂 Фронтенд (React MiniApp):
    github.com/Miragestudio-repo/MirageDiary-Miniapp
    (TypeScript, Vite, темная адаптивная дизайн-система)
🐳 Инфраструктура в Docker:
    Multi-stage build на базе ASP.NET 10 Noble с сертификатами Минцифры РФ и запуском от non-root пользователя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10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Дорожная карта развития (Roadmap)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Стратегический план масштабирования экосистемы на 2026–2027 учебный год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10312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38BDF8"/>
                </a:solidFill>
              </a:rPr>
              <a:t>Q4 2026 (Пилотный запуск)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031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F8FAFC"/>
                </a:solidFill>
                <a:latin typeface="Segoe UI"/>
              </a:rPr>
              <a:t>• Пилотное внедрение в 5 школах Свердловской области (МАОУ СОШ № 113 и партнеры)
• Подключение первых 1500+ активных школьников и родителей
• Отработка пользовательских отзывов и донастройка сетки звонков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10312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38BDF8"/>
                </a:solidFill>
              </a:rPr>
              <a:t>Q1 2027 (Календари и WebCal)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21031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F8FAFC"/>
                </a:solidFill>
                <a:latin typeface="Segoe UI"/>
              </a:rPr>
              <a:t>• Экспорт расписания и дедлайнов ДЗ по протоколу iCal / WebCal
• Автосинхронизация с Яндекс Календарем, Google Calendar и Apple Calendar
• Подписка родителей на сводки об успеваемости за неделю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10312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38BDF8"/>
                </a:solidFill>
              </a:rPr>
              <a:t>Q2 2027 (ИИ-ассистент в учебе)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1031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F8FAFC"/>
                </a:solidFill>
                <a:latin typeface="Segoe UI"/>
              </a:rPr>
              <a:t>• Интеграция локальной языковой модели для помощи в разборе сложных тем
• Автоматическая суммаризация длинных параграфов домашних заданий
• Генерация тренировочных викторин для подготовки к контрольным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10312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38BDF8"/>
                </a:solidFill>
              </a:rPr>
              <a:t>Q3 2027 (Федеральное масштабирование)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68880"/>
            <a:ext cx="2103120" cy="3383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sz="1050">
                <a:solidFill>
                  <a:srgbClr val="F8FAFC"/>
                </a:solidFill>
                <a:latin typeface="Segoe UI"/>
              </a:rPr>
              <a:t>• Подключение новых регионов РФ, интегрированных с ФГИС «Моя Школа»
• Разработка интерактивных виджетов рабочего стола для iOS и Android
• Панель аналитики для классных руководителей и школьной администрации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11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Команда проекта и компетенции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Сбалансированная инженерная экспертиза для масштабирования продукта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83464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38BDF8"/>
                </a:solidFill>
                <a:latin typeface="Segoe UI"/>
              </a:rPr>
              <a:t>💻 Backend &amp; Security Architect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Архитектура распределенного ядра на .NET 10 (C# 14)
• Реализация криптографического протокола enc:v2: (AES-256-GCM + DEK)
• Интеграция шлюза ЕСИА (OAuth2 PKCE S256) и ФГИС «Моя Школа»
• Обеспечение соответствия требованиям 152-ФЗ и защита от атак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011680"/>
            <a:ext cx="283464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6366F1"/>
                </a:solidFill>
                <a:latin typeface="Segoe UI"/>
              </a:rPr>
              <a:t>🎨 Frontend &amp; UI/UX Engineer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Проектирование эргономичной дизайн-системы для школьников и родителей
• Разработка высокопроизводительного React MiniApp (TypeScript + Vite)
• Создание системы визуальных баннеров высокого разрешения (1200x580)
• In-place интерфейсы ботов Telegram и MAX без спама в чате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2834640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300">
                <a:solidFill>
                  <a:srgbClr val="10B981"/>
                </a:solidFill>
                <a:latin typeface="Segoe UI"/>
              </a:rPr>
              <a:t>🚀 Product Manager &amp; QA / DevOps</a:t>
            </a:r>
          </a:p>
          <a:p>
            <a:pPr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Segoe UI"/>
              </a:rPr>
              <a:t>• Проработка продуктовых сценариев (умный будильник, таймер звонков)
• Автоматизация CI/CD, сборка Docker-образов, конфигурирование Nginx
• Проведение нагрузочного тестирования и профилирование Kestrel
• Взаимодействие со школьной администрацией и сбор обратной связи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12  |  </a:t>
            </a:r>
            <a:r>
              <a:rPr sz="2200" b="1">
                <a:solidFill>
                  <a:srgbClr val="F8FAFC"/>
                </a:solidFill>
                <a:latin typeface="Segoe UI"/>
              </a:rPr>
              <a:t>Заключение и контакты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MirageDiary — современный стандарт взаимодействия со школьными данными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93776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600">
                <a:solidFill>
                  <a:srgbClr val="38BDF8"/>
                </a:solidFill>
              </a:rPr>
              <a:t>🌟 Почему MirageDiary побеждает: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F8FAFC"/>
                </a:solidFill>
              </a:rPr>
              <a:t>• Реальный, уже работающий продукт на https://miragediary.space
• Безопасность уровня enterprise: конвертное шифрование enc:v2:, Zero-Knowledge паролей Госуслуг и 100% соблюдение 152-ФЗ.
• Высочайшая скорость отклика (&lt;200 мс) и снижение нагрузки на государственные серверы в 20+ раз благодаря SharedClassroomCache.
• Готовность к импортозамещению: поддержка отечественного мессенджера MAX и российских сертификатов Минцифры.
• Полная открытость кода, Docker-контейнеризация и готовность к масштабированию.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9202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0B981"/>
                </a:solidFill>
              </a:rPr>
              <a:t>📱 Попробуйте прямо сейчас:</a:t>
            </a:r>
          </a:p>
        </p:txBody>
      </p:sp>
      <p:pic>
        <p:nvPicPr>
          <p:cNvPr id="8" name="Picture 7" descr="qr_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68880"/>
            <a:ext cx="164592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75120" y="41605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</a:rPr>
              <a:t>Telegram-бот
@MirageDiary_bot</a:t>
            </a:r>
          </a:p>
        </p:txBody>
      </p:sp>
      <p:pic>
        <p:nvPicPr>
          <p:cNvPr id="10" name="Picture 9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246888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52560" y="41605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</a:rPr>
              <a:t>GitHub Репозиторий
MirageDiary_Backend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846320"/>
            <a:ext cx="438912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r>
              <a:rPr b="1" sz="1100">
                <a:solidFill>
                  <a:srgbClr val="38BDF8"/>
                </a:solidFill>
              </a:rPr>
              <a:t>🌐 Веб-портал: </a:t>
            </a:r>
            <a:r>
              <a:rPr sz="1100">
                <a:solidFill>
                  <a:srgbClr val="F8FAFC"/>
                </a:solidFill>
              </a:rPr>
              <a:t>https://miragediary.space
</a:t>
            </a:r>
          </a:p>
          <a:p>
            <a:pPr>
              <a:spcBef>
                <a:spcPts val="300"/>
              </a:spcBef>
            </a:pPr>
            <a:r>
              <a:rPr b="1" sz="1100">
                <a:solidFill>
                  <a:srgbClr val="38BDF8"/>
                </a:solidFill>
              </a:rPr>
              <a:t>💬 Команда MirageStudio: </a:t>
            </a:r>
            <a:r>
              <a:rPr sz="1100">
                <a:solidFill>
                  <a:srgbClr val="94A3B8"/>
                </a:solidFill>
              </a:rPr>
              <a:t>Готовы ответить на любые вопросы жюри!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Segoe UI"/>
              </a:rPr>
              <a:t>MirageDiary • Интеллектуальная кроссплатформенная экосистема школьного дневника</a:t>
            </a:r>
            <a:r>
              <a:t>                                                                                </a:t>
            </a:r>
            <a:r>
              <a:rPr sz="1000" b="1">
                <a:solidFill>
                  <a:srgbClr val="38BDF8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